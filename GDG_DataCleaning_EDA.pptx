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56149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linkedin.com/in/oluwafemi-abiona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8662"/>
            <a:ext cx="5029200" cy="6858000"/>
          </a:xfrm>
          <a:prstGeom prst="rect">
            <a:avLst/>
          </a:prstGeom>
          <a:solidFill>
            <a:srgbClr val="0A1260"/>
          </a:solidFill>
          <a:ln w="12700">
            <a:solidFill>
              <a:srgbClr val="0A12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274320" y="274320"/>
            <a:ext cx="4572000" cy="4572000"/>
          </a:xfrm>
          <a:prstGeom prst="ellipse">
            <a:avLst/>
          </a:prstGeom>
          <a:solidFill>
            <a:srgbClr val="3D5AFE">
              <a:alpha val="20000"/>
            </a:srgbClr>
          </a:solidFill>
          <a:ln w="12700">
            <a:solidFill>
              <a:srgbClr val="3D5AFE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731520" y="731520"/>
            <a:ext cx="3474720" cy="3474720"/>
          </a:xfrm>
          <a:prstGeom prst="ellipse">
            <a:avLst/>
          </a:prstGeom>
          <a:solidFill>
            <a:srgbClr val="5C6BC0">
              <a:alpha val="18000"/>
            </a:srgbClr>
          </a:solidFill>
          <a:ln w="12700">
            <a:solidFill>
              <a:srgbClr val="5C6BC0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188720" y="1188720"/>
            <a:ext cx="2560320" cy="2560320"/>
          </a:xfrm>
          <a:prstGeom prst="ellipse">
            <a:avLst/>
          </a:prstGeom>
          <a:solidFill>
            <a:srgbClr val="0D1B6E"/>
          </a:solidFill>
          <a:ln w="12700">
            <a:solidFill>
              <a:srgbClr val="3D5AFE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65760" y="164592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Google Developer Groups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5486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&amp; ML Community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303520" y="1371600"/>
            <a:ext cx="6492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Dive into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303520" y="2057400"/>
            <a:ext cx="6492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5200" dirty="0"/>
          </a:p>
        </p:txBody>
      </p:sp>
      <p:sp>
        <p:nvSpPr>
          <p:cNvPr id="11" name="Text 9"/>
          <p:cNvSpPr/>
          <p:nvPr/>
        </p:nvSpPr>
        <p:spPr>
          <a:xfrm>
            <a:off x="5303520" y="2926080"/>
            <a:ext cx="6492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EDA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5303520" y="3931920"/>
            <a:ext cx="6217920" cy="36576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303520" y="405993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a Retail Sales Dataset  ·  2,000+ transactions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303520" y="4526280"/>
            <a:ext cx="65836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Handling Missing Values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Duplicates &amp; Inconsistencies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Outlier Detection (IQR · Isolation Forest · Binning)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EDA — Univariate · Bivariate · Multivariate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Visualisation Techniques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Correlation Analysis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Extracting Business Insights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ML-Ready Pipeline</a:t>
            </a:r>
            <a:endParaRPr lang="en-US" sz="1200" dirty="0"/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C4812FCE-418A-7C55-0E60-D9CEEAE4A406}"/>
              </a:ext>
            </a:extLst>
          </p:cNvPr>
          <p:cNvSpPr/>
          <p:nvPr/>
        </p:nvSpPr>
        <p:spPr>
          <a:xfrm>
            <a:off x="365760" y="61722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Oluwafemi ABIONA</a:t>
            </a:r>
          </a:p>
          <a:p>
            <a:r>
              <a:rPr lang="en-US" sz="11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LinkedIn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Dataset: Retail Sales Transactions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2,018 rows · 18 columns — injected with real-world quality issues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1338560" cy="27432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34440"/>
          <a:ext cx="11338560" cy="550468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63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Column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transaction 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OrderDate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 of purchase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Region / City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 info — 2% Region 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Category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product categories + inconsistencies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Channel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/ In-Store / Wholesale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UnitPrice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per unit (₦)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Quantity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 sold (1–20)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Discount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0–25% discount applied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Revenue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× Qty × (1−Disc) — has outliers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Profit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Derived margin figure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CustomerAge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~11% 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Rating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1–5 stars, ~7% missing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9319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ReturnFlag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= kept, 1 = returned (12% rate)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-731520"/>
            <a:ext cx="4114800" cy="4114800"/>
          </a:xfrm>
          <a:prstGeom prst="ellipse">
            <a:avLst/>
          </a:prstGeom>
          <a:solidFill>
            <a:srgbClr val="3D5AFE">
              <a:alpha val="15000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0" y="4114800"/>
            <a:ext cx="4572000" cy="457200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5C6BC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0" dirty="0"/>
          </a:p>
        </p:txBody>
      </p:sp>
      <p:sp>
        <p:nvSpPr>
          <p:cNvPr id="6" name="Shape 4"/>
          <p:cNvSpPr/>
          <p:nvPr/>
        </p:nvSpPr>
        <p:spPr>
          <a:xfrm>
            <a:off x="2926080" y="1828800"/>
            <a:ext cx="54864" cy="2743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182880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Handling Missing Values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0" y="3246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· Quantify · Impute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 Data Science &amp; ML Community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Missing Values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missingno charts · df.info() · null percentage analysis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1338560" cy="27432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61872"/>
            <a:ext cx="4937760" cy="3931920"/>
          </a:xfrm>
          <a:prstGeom prst="roundRect">
            <a:avLst>
              <a:gd name="adj" fmla="val 2093"/>
            </a:avLst>
          </a:prstGeom>
          <a:solidFill>
            <a:srgbClr val="05082E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" y="1353312"/>
            <a:ext cx="137160" cy="137160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" y="1353312"/>
            <a:ext cx="137160" cy="13716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86968" y="1353312"/>
            <a:ext cx="137160" cy="13716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" y="1581912"/>
            <a:ext cx="4736592" cy="3547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missingno as msno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pandas as pd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pd.read_csv('sales_data.csv')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Quick overview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df.info()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Count + percentage missing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miss = pd.DataFrame({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'Count': df.isnull().sum(),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'Pct':   df.isnull().mean()*100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}).query('Count &gt; 0').sort_values('Pct', ascending=False)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Visual charts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msno.bar(df)      # bar chart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msno.matrix(df)   # pattern matrix</a:t>
            </a:r>
            <a:endParaRPr lang="en-US" sz="1000" dirty="0"/>
          </a:p>
        </p:txBody>
      </p:sp>
      <p:pic>
        <p:nvPicPr>
          <p:cNvPr id="12" name="Image 0" descr="/home/claude/gdg_imgs/missing_p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243584"/>
            <a:ext cx="6217920" cy="27432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577840" y="4114800"/>
            <a:ext cx="6217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CustomerAge</a:t>
            </a:r>
            <a:r>
              <a:rPr lang="en-US" sz="12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11% missing (impute with median)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</a:t>
            </a:r>
            <a:r>
              <a:rPr lang="en-US" sz="12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7% missing (impute with mode)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ShippingCost</a:t>
            </a:r>
            <a:r>
              <a:rPr lang="en-US" sz="12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4% missing (impute with mean)</a:t>
            </a:r>
            <a:endParaRPr lang="en-US" sz="1250" dirty="0"/>
          </a:p>
          <a:p>
            <a:pPr marL="0" indent="0">
              <a:buNone/>
            </a:pPr>
            <a:r>
              <a:rPr lang="en-US" sz="125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Rule: </a:t>
            </a:r>
            <a:r>
              <a:rPr lang="en-US" sz="12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50% missing → drop column  ·  &lt; 5% → safe to impute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Imputation Strategies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· Median · Mode — and when to use each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1338560" cy="27432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2743200" cy="4389120"/>
          </a:xfrm>
          <a:prstGeom prst="roundRect">
            <a:avLst>
              <a:gd name="adj" fmla="val 3333"/>
            </a:avLst>
          </a:prstGeom>
          <a:solidFill>
            <a:srgbClr val="131F7A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280160"/>
            <a:ext cx="2743200" cy="822960"/>
          </a:xfrm>
          <a:prstGeom prst="roundRect">
            <a:avLst>
              <a:gd name="adj" fmla="val 11111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691640"/>
            <a:ext cx="2743200" cy="411480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" y="221284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Continuous, symmetric distribution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06324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05082E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2648" y="3154680"/>
            <a:ext cx="137160" cy="137160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95528" y="3154680"/>
            <a:ext cx="137160" cy="13716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978408" y="3154680"/>
            <a:ext cx="137160" cy="13716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" y="3383280"/>
            <a:ext cx="23591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df['Revenue'].fillna(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df['Revenue'].mean())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37560" y="1280160"/>
            <a:ext cx="2743200" cy="4389120"/>
          </a:xfrm>
          <a:prstGeom prst="roundRect">
            <a:avLst>
              <a:gd name="adj" fmla="val 3333"/>
            </a:avLst>
          </a:prstGeom>
          <a:solidFill>
            <a:srgbClr val="131F7A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337560" y="1280160"/>
            <a:ext cx="2743200" cy="822960"/>
          </a:xfrm>
          <a:prstGeom prst="roundRect">
            <a:avLst>
              <a:gd name="adj" fmla="val 11111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337560" y="1691640"/>
            <a:ext cx="2743200" cy="41148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42900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3429000" y="221284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with skew / outliers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429000" y="306324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05082E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538728" y="3154680"/>
            <a:ext cx="137160" cy="137160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3721608" y="3154680"/>
            <a:ext cx="137160" cy="13716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904488" y="3154680"/>
            <a:ext cx="137160" cy="13716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538728" y="3383280"/>
            <a:ext cx="23591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df['CustomerAge'].fillna(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df['CustomerAge'].median())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263640" y="1280160"/>
            <a:ext cx="2743200" cy="4389120"/>
          </a:xfrm>
          <a:prstGeom prst="roundRect">
            <a:avLst>
              <a:gd name="adj" fmla="val 3333"/>
            </a:avLst>
          </a:prstGeom>
          <a:solidFill>
            <a:srgbClr val="131F7A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6263640" y="1280160"/>
            <a:ext cx="2743200" cy="822960"/>
          </a:xfrm>
          <a:prstGeom prst="roundRect">
            <a:avLst>
              <a:gd name="adj" fmla="val 11111"/>
            </a:avLst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263640" y="1691640"/>
            <a:ext cx="2743200" cy="41148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35508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355080" y="221284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or discrete values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355080" y="306324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05082E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464808" y="3154680"/>
            <a:ext cx="137160" cy="137160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647688" y="3154680"/>
            <a:ext cx="137160" cy="13716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830568" y="3154680"/>
            <a:ext cx="137160" cy="13716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64808" y="3383280"/>
            <a:ext cx="23591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df['Rating'].fillna(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df['Rating'].mode()[0])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189720" y="1280160"/>
            <a:ext cx="2743200" cy="4389120"/>
          </a:xfrm>
          <a:prstGeom prst="roundRect">
            <a:avLst>
              <a:gd name="adj" fmla="val 3333"/>
            </a:avLst>
          </a:prstGeom>
          <a:solidFill>
            <a:srgbClr val="131F7A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9189720" y="1280160"/>
            <a:ext cx="2743200" cy="822960"/>
          </a:xfrm>
          <a:prstGeom prst="roundRect">
            <a:avLst>
              <a:gd name="adj" fmla="val 11111"/>
            </a:avLst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189720" y="1691640"/>
            <a:ext cx="2743200" cy="411480"/>
          </a:xfrm>
          <a:prstGeom prst="rect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9281160" y="13258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9281160" y="2212848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1% rows affected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9281160" y="3063240"/>
            <a:ext cx="2560320" cy="1371600"/>
          </a:xfrm>
          <a:prstGeom prst="roundRect">
            <a:avLst>
              <a:gd name="adj" fmla="val 6000"/>
            </a:avLst>
          </a:prstGeom>
          <a:solidFill>
            <a:srgbClr val="05082E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hape 41"/>
          <p:cNvSpPr/>
          <p:nvPr/>
        </p:nvSpPr>
        <p:spPr>
          <a:xfrm>
            <a:off x="9390888" y="3154680"/>
            <a:ext cx="137160" cy="137160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9573768" y="3154680"/>
            <a:ext cx="137160" cy="13716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9756648" y="3154680"/>
            <a:ext cx="137160" cy="13716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9390888" y="3383280"/>
            <a:ext cx="2359152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df.dropna(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subset=['Region'])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11480" y="5870448"/>
            <a:ext cx="11338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6FF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In ML pipelines: use sklearn.impute.SimpleImputer — fit on train only to prevent data leakage.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-731520"/>
            <a:ext cx="4114800" cy="4114800"/>
          </a:xfrm>
          <a:prstGeom prst="ellipse">
            <a:avLst/>
          </a:prstGeom>
          <a:solidFill>
            <a:srgbClr val="3D5AFE">
              <a:alpha val="15000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0" y="4114800"/>
            <a:ext cx="4572000" cy="457200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5C6BC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0" dirty="0"/>
          </a:p>
        </p:txBody>
      </p:sp>
      <p:sp>
        <p:nvSpPr>
          <p:cNvPr id="6" name="Shape 4"/>
          <p:cNvSpPr/>
          <p:nvPr/>
        </p:nvSpPr>
        <p:spPr>
          <a:xfrm>
            <a:off x="2926080" y="1828800"/>
            <a:ext cx="54864" cy="2743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182880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 &amp; Inconsistencies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0" y="3246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· Standardise · Fix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 Data Science &amp; ML Community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Detecting Duplicates &amp; Inconsistencies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in data from multiple sources or manual entry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1338560" cy="27432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208" y="1353312"/>
            <a:ext cx="137160" cy="137160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704088" y="1353312"/>
            <a:ext cx="137160" cy="13716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886968" y="1353312"/>
            <a:ext cx="137160" cy="13716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21208" y="1581912"/>
            <a:ext cx="4828032" cy="4553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Exact duplicate rows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print(df.duplicated().sum())  # → 18 found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df.drop_duplicates(inplace=True)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Inspect categories for inconsistencies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df['Category'].value_counts()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'Electronics', 'electronics' → same thing!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Standardise strings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df['Category'] = df['Category']    .str.strip().str.title()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df['Channel'] = df['Channel']    .str.strip().str.title()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df['CustomerGender'] = df['CustomerGender']    .str.strip().str.title()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Type fixes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df['OrderDate'] = pd.to_datetime(df['OrderDate'])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df['ReturnFlag'] = df['ReturnFlag'].astype(int)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Verify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print(df['Category'].value_counts())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1298448"/>
            <a:ext cx="6080760" cy="1417320"/>
          </a:xfrm>
          <a:prstGeom prst="roundRect">
            <a:avLst>
              <a:gd name="adj" fmla="val 6452"/>
            </a:avLst>
          </a:prstGeom>
          <a:solidFill>
            <a:srgbClr val="131F7A"/>
          </a:solidFill>
          <a:ln w="12700">
            <a:solidFill>
              <a:srgbClr val="FF1744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852160" y="1389888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18 Duplicate Rows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852160" y="1865376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order system sync overlap. Inflates revenue totals by ~0.9%.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669280" y="2871216"/>
            <a:ext cx="6080760" cy="1417320"/>
          </a:xfrm>
          <a:prstGeom prst="roundRect">
            <a:avLst>
              <a:gd name="adj" fmla="val 6452"/>
            </a:avLst>
          </a:prstGeom>
          <a:solidFill>
            <a:srgbClr val="131F7A"/>
          </a:solidFill>
          <a:ln w="12700">
            <a:solidFill>
              <a:srgbClr val="FF6D0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52160" y="2962656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 String Case Issues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852160" y="3438144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'electronics' vs 'Electronics', ' Online ' vs 'Online', 'male' vs 'Male' — creates phantom categories.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669280" y="4443984"/>
            <a:ext cx="6080760" cy="1417320"/>
          </a:xfrm>
          <a:prstGeom prst="roundRect">
            <a:avLst>
              <a:gd name="adj" fmla="val 6452"/>
            </a:avLst>
          </a:prstGeom>
          <a:solidFill>
            <a:srgbClr val="131F7A"/>
          </a:solidFill>
          <a:ln w="12700">
            <a:solidFill>
              <a:srgbClr val="76FF03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52160" y="4535424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 Type Mismatches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52160" y="5010912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OrderDate stored as string. ReturnFlag may arrive as float. Always assert types post-load.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-731520"/>
            <a:ext cx="4114800" cy="4114800"/>
          </a:xfrm>
          <a:prstGeom prst="ellipse">
            <a:avLst/>
          </a:prstGeom>
          <a:solidFill>
            <a:srgbClr val="3D5AFE">
              <a:alpha val="15000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0" y="4114800"/>
            <a:ext cx="4572000" cy="457200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5C6BC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0" dirty="0"/>
          </a:p>
        </p:txBody>
      </p:sp>
      <p:sp>
        <p:nvSpPr>
          <p:cNvPr id="6" name="Shape 4"/>
          <p:cNvSpPr/>
          <p:nvPr/>
        </p:nvSpPr>
        <p:spPr>
          <a:xfrm>
            <a:off x="2926080" y="1828800"/>
            <a:ext cx="54864" cy="2743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182880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with Outliers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0" y="3246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· Isolation Forest · Binning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 Data Science &amp; ML Community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— Interquartile Range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fence method for univariate outlier detection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1338560" cy="27432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gdg_imgs/outlier_i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261872"/>
            <a:ext cx="621792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1261872"/>
            <a:ext cx="4983480" cy="4114800"/>
          </a:xfrm>
          <a:prstGeom prst="roundRect">
            <a:avLst>
              <a:gd name="adj" fmla="val 2000"/>
            </a:avLst>
          </a:prstGeom>
          <a:solidFill>
            <a:srgbClr val="05082E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21208" y="1353312"/>
            <a:ext cx="137160" cy="137160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04088" y="1353312"/>
            <a:ext cx="137160" cy="13716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1353312"/>
            <a:ext cx="137160" cy="13716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21208" y="1581912"/>
            <a:ext cx="4782312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Q1  = df['Revenue'].quantile(0.25)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Q3  = df['Revenue'].quantile(0.75)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 = Q3 - Q1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lower = Q1 - 1.5 * IQR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 = Q3 + 1.5 * IQR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outliers = df[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(df['Revenue'] &lt; lower) |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(df['Revenue'] &gt; upper)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print(f"{len(outliers)} outliers found")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 1: Remove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df[(df['Revenue']&gt;=lower)&amp;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(df['Revenue']&lt;=upper)]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Option 2: Cap (Winsorize)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df['Revenue'] = df['Revenue'].clip(lower, upper)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1480" y="55321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IQR Rule: </a:t>
            </a:r>
            <a:r>
              <a:rPr lang="en-US" sz="13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= Q1 − 1.5×IQR   |   Upper = Q3 + 1.5×IQR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11480" y="5989320"/>
            <a:ext cx="11338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Multiplier: 1.5 = mild outliers  ·  3.0 = extreme outliers only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multivariate anomaly detection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1338560" cy="27432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gdg_imgs/isolation_fo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61872"/>
            <a:ext cx="594360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492240" y="1261872"/>
            <a:ext cx="5257800" cy="4114800"/>
          </a:xfrm>
          <a:prstGeom prst="roundRect">
            <a:avLst>
              <a:gd name="adj" fmla="val 2000"/>
            </a:avLst>
          </a:prstGeom>
          <a:solidFill>
            <a:srgbClr val="05082E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601968" y="1353312"/>
            <a:ext cx="137160" cy="137160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6784848" y="1353312"/>
            <a:ext cx="137160" cy="13716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967728" y="1353312"/>
            <a:ext cx="137160" cy="13716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601968" y="1581912"/>
            <a:ext cx="5056632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sklearn.ensemble import IsolationForest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Use multiple features simultaneously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df[['Revenue','UnitPrice']].dropna()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 = IsolationForest(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contamination=0.05,  # 5% anomalies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random_state=42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pred = iso.fit_predict(X)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= normal  |  -1 = anomaly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X['anomaly'] = pred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anomalies = X[X['anomaly'] == -1]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print(f"Found: {len(anomalies)} anomalies")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Remove from main df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= iso.fit_predict(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df[['Revenue','UnitPrice']].fillna(0))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df_clean = df[mask == 1]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1480" y="5074920"/>
            <a:ext cx="11338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Handles multivariate patterns  ·  ✅  No distributional assumptions  ·  ⚙️  Tune contamination with domain knowledge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Binning (Discretisation)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continuous features into meaningful categories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1338560" cy="27432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gdg_imgs/bin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261872"/>
            <a:ext cx="621792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11480" y="1261872"/>
            <a:ext cx="4983480" cy="4114800"/>
          </a:xfrm>
          <a:prstGeom prst="roundRect">
            <a:avLst>
              <a:gd name="adj" fmla="val 2000"/>
            </a:avLst>
          </a:prstGeom>
          <a:solidFill>
            <a:srgbClr val="05082E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521208" y="1353312"/>
            <a:ext cx="137160" cy="137160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04088" y="1353312"/>
            <a:ext cx="137160" cy="13716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86968" y="1353312"/>
            <a:ext cx="137160" cy="13716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21208" y="1581912"/>
            <a:ext cx="4782312" cy="3730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Equal-width bins (pd.cut)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df['AgeGroup'] = pd.cut(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df['CustomerAge'],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bins=[0, 25, 35, 50, 75],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labels=['18-25','26-35',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'36-50','51-75']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Equal-frequency (quantile) bins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df['RevenueQuartile'] = pd.qcut(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df['Revenue'],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q=4,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labels=['Low','Medium',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'High','Premium']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Integer codes for ML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df['AgeCode'] = pd.cut(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df['CustomerAge'],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bins=[0,25,35,50,75],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labels=False)  # 0,1,2,3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1480" y="5559552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pd.cut() </a:t>
            </a:r>
            <a:r>
              <a:rPr lang="en-US" sz="13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equal-width or custom   |   </a:t>
            </a:r>
            <a:r>
              <a:rPr lang="en-US" sz="13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pd.qcut() </a:t>
            </a:r>
            <a:r>
              <a:rPr lang="en-US" sz="13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equal-frequency (quantile-based)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-731520"/>
            <a:ext cx="4114800" cy="4114800"/>
          </a:xfrm>
          <a:prstGeom prst="ellipse">
            <a:avLst/>
          </a:prstGeom>
          <a:solidFill>
            <a:srgbClr val="3D5AFE">
              <a:alpha val="15000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0" y="4114800"/>
            <a:ext cx="4572000" cy="457200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5C6BC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0" dirty="0"/>
          </a:p>
        </p:txBody>
      </p:sp>
      <p:sp>
        <p:nvSpPr>
          <p:cNvPr id="6" name="Shape 4"/>
          <p:cNvSpPr/>
          <p:nvPr/>
        </p:nvSpPr>
        <p:spPr>
          <a:xfrm>
            <a:off x="2926080" y="1828800"/>
            <a:ext cx="54864" cy="2743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182880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Fundamentals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0" y="3246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· Bivariate · Multivariate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 Data Science &amp; ML Community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Levels of EDA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understanding from simple → complex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1338560" cy="27432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3749040" cy="5230368"/>
          </a:xfrm>
          <a:prstGeom prst="roundRect">
            <a:avLst>
              <a:gd name="adj" fmla="val 2927"/>
            </a:avLst>
          </a:prstGeom>
          <a:solidFill>
            <a:srgbClr val="131F7A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11480" y="1298448"/>
            <a:ext cx="3749040" cy="960120"/>
          </a:xfrm>
          <a:prstGeom prst="roundRect">
            <a:avLst>
              <a:gd name="adj" fmla="val 11429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11480" y="1828800"/>
            <a:ext cx="3749040" cy="42976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34416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1️⃣  Univariate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48640" y="2359152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variable at a time.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distributions, shape, and range.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114800"/>
            <a:ext cx="3474720" cy="1298448"/>
          </a:xfrm>
          <a:prstGeom prst="roundRect">
            <a:avLst>
              <a:gd name="adj" fmla="val 5634"/>
            </a:avLst>
          </a:prstGeom>
          <a:solidFill>
            <a:srgbClr val="05082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12648" y="4160520"/>
            <a:ext cx="3337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🛠  hist · boxplot · describe()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value_counts() · kdeplot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43400" y="1298448"/>
            <a:ext cx="3749040" cy="5230368"/>
          </a:xfrm>
          <a:prstGeom prst="roundRect">
            <a:avLst>
              <a:gd name="adj" fmla="val 2927"/>
            </a:avLst>
          </a:prstGeom>
          <a:solidFill>
            <a:srgbClr val="131F7A"/>
          </a:solidFill>
          <a:ln w="12700">
            <a:solidFill>
              <a:srgbClr val="5C6BC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343400" y="1298448"/>
            <a:ext cx="3749040" cy="960120"/>
          </a:xfrm>
          <a:prstGeom prst="roundRect">
            <a:avLst>
              <a:gd name="adj" fmla="val 11429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343400" y="1828800"/>
            <a:ext cx="3749040" cy="429768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34840" y="134416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2️⃣  Bivariate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480560" y="2359152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between two variables.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correlations, group differences.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80560" y="4114800"/>
            <a:ext cx="3474720" cy="1298448"/>
          </a:xfrm>
          <a:prstGeom prst="roundRect">
            <a:avLst>
              <a:gd name="adj" fmla="val 5634"/>
            </a:avLst>
          </a:prstGeom>
          <a:solidFill>
            <a:srgbClr val="05082E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44568" y="4160520"/>
            <a:ext cx="3337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🛠  scatter · countplot · boxplot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barplot · crosstab()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275320" y="1298448"/>
            <a:ext cx="3749040" cy="5230368"/>
          </a:xfrm>
          <a:prstGeom prst="roundRect">
            <a:avLst>
              <a:gd name="adj" fmla="val 2927"/>
            </a:avLst>
          </a:prstGeom>
          <a:solidFill>
            <a:srgbClr val="131F7A"/>
          </a:solidFill>
          <a:ln w="12700">
            <a:solidFill>
              <a:srgbClr val="E040FB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275320" y="1298448"/>
            <a:ext cx="3749040" cy="960120"/>
          </a:xfrm>
          <a:prstGeom prst="roundRect">
            <a:avLst>
              <a:gd name="adj" fmla="val 11429"/>
            </a:avLst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275320" y="1828800"/>
            <a:ext cx="3749040" cy="429768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8366760" y="1344168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3️⃣  Multivariate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8412480" y="2359152"/>
            <a:ext cx="34747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variables simultaneously.</a:t>
            </a:r>
            <a:endParaRPr lang="en-US" sz="1250" dirty="0"/>
          </a:p>
          <a:p>
            <a:pPr marL="0" indent="0">
              <a:buNone/>
            </a:pPr>
            <a:r>
              <a:rPr lang="en-US" sz="12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interaction effects.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8412480" y="4114800"/>
            <a:ext cx="3474720" cy="1298448"/>
          </a:xfrm>
          <a:prstGeom prst="roundRect">
            <a:avLst>
              <a:gd name="adj" fmla="val 5634"/>
            </a:avLst>
          </a:prstGeom>
          <a:solidFill>
            <a:srgbClr val="05082E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8476488" y="4160520"/>
            <a:ext cx="33375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🛠  pairplot · heatmap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FacetGrid · groupby pivot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Univariate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histogram · Category counts · Rating distribution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1338560" cy="27432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gdg_imgs/univari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61872"/>
            <a:ext cx="7132320" cy="32918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726680" y="1261872"/>
            <a:ext cx="4114800" cy="3291840"/>
          </a:xfrm>
          <a:prstGeom prst="roundRect">
            <a:avLst>
              <a:gd name="adj" fmla="val 2500"/>
            </a:avLst>
          </a:prstGeom>
          <a:solidFill>
            <a:srgbClr val="05082E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836408" y="1353312"/>
            <a:ext cx="137160" cy="137160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019288" y="1353312"/>
            <a:ext cx="137160" cy="13716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202168" y="1353312"/>
            <a:ext cx="137160" cy="13716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836408" y="1581912"/>
            <a:ext cx="3913632" cy="290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Numerical distribution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df['Revenue'].hist(bins=35)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df['Revenue'].plot.kde()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df['Revenue'].describe()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Box plot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df['CustomerAge'].plot.box()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Categorical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df['Category'].value_counts()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df['Channel'].value_counts(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normalize=True)  # proportions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Rating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df['Rating'].dropna()    .value_counts().sort_index()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1480" y="475488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checks: mean vs median gap (skew) · std/IQR (spread) · unique values · % missing per column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Bivariate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vs Revenue · Channel vs Avg Revenue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1338560" cy="27432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gdg_imgs/bivari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61872"/>
            <a:ext cx="7498080" cy="338328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955280" y="1261872"/>
            <a:ext cx="3840480" cy="3383280"/>
          </a:xfrm>
          <a:prstGeom prst="roundRect">
            <a:avLst>
              <a:gd name="adj" fmla="val 2432"/>
            </a:avLst>
          </a:prstGeom>
          <a:solidFill>
            <a:srgbClr val="05082E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8065008" y="1353312"/>
            <a:ext cx="137160" cy="137160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8247888" y="1353312"/>
            <a:ext cx="137160" cy="13716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430768" y="1353312"/>
            <a:ext cx="137160" cy="13716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065008" y="1581912"/>
            <a:ext cx="3639312" cy="2999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Category vs Revenue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df.groupby('Category')  ['Revenue'].median()  .sort_values().plot.bar()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Channel comparison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df.groupby('Channel')  ['Revenue'].mean()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Scatter: Price vs Revenue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sns.scatterplot(data=df,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x='UnitPrice', y='Revenue',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hue='Category')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Categorical vs numeric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sns.boxplot(data=df,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x='Channel', y='Revenue')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1480" y="484632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to ask: Does the distribution of Revenue change meaningfully across Category or Channel?</a:t>
            </a:r>
            <a:endParaRPr lang="en-US" sz="12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Multivariate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Category × Channel · Pairplots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1338560" cy="27432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gdg_imgs/multivari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61872"/>
            <a:ext cx="6949440" cy="356616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543800" y="1261872"/>
            <a:ext cx="4206240" cy="3566160"/>
          </a:xfrm>
          <a:prstGeom prst="roundRect">
            <a:avLst>
              <a:gd name="adj" fmla="val 2308"/>
            </a:avLst>
          </a:prstGeom>
          <a:solidFill>
            <a:srgbClr val="05082E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653528" y="1353312"/>
            <a:ext cx="137160" cy="137160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836408" y="1353312"/>
            <a:ext cx="137160" cy="13716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8019288" y="1353312"/>
            <a:ext cx="137160" cy="13716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7653528" y="1581912"/>
            <a:ext cx="4005072" cy="3182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Grouped pivot: Cat × Channel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df.groupby(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['Category','Channel']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)['Revenue'].mean().unstack()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.plot.bar()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Pairplot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seaborn as sns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cols = ['Revenue','Profit',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'UnitPrice','CustomerAge']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sns.pairplot(df[cols].dropna(),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diag_kind='kde')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FacetGrid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 = sns.FacetGrid(df,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col='Channel', hue='ReturnFlag')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g.map(sns.histplot, 'Revenue')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1480" y="502920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Pairplots on 2,000+ rows are fast enough. For 100k+ rows, sample: df.sample(5000, random_state=42)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-731520"/>
            <a:ext cx="4114800" cy="4114800"/>
          </a:xfrm>
          <a:prstGeom prst="ellipse">
            <a:avLst/>
          </a:prstGeom>
          <a:solidFill>
            <a:srgbClr val="3D5AFE">
              <a:alpha val="15000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0" y="4114800"/>
            <a:ext cx="4572000" cy="457200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5C6BC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0" dirty="0"/>
          </a:p>
        </p:txBody>
      </p:sp>
      <p:sp>
        <p:nvSpPr>
          <p:cNvPr id="6" name="Shape 4"/>
          <p:cNvSpPr/>
          <p:nvPr/>
        </p:nvSpPr>
        <p:spPr>
          <a:xfrm>
            <a:off x="2926080" y="1828800"/>
            <a:ext cx="54864" cy="2743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182880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Techniques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0" y="3246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right chart for your question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 Data Science &amp; ML Community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 Cheat Sheet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your data type and question to the best chart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1338560" cy="27432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261872"/>
          <a:ext cx="11338560" cy="5349240"/>
        </p:xfrm>
        <a:graphic>
          <a:graphicData uri="http://schemas.openxmlformats.org/drawingml/2006/table">
            <a:tbl>
              <a:tblPr/>
              <a:tblGrid>
                <a:gridCol w="347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46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49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/ Goal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Best Chart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Seaborn / Matplotlib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D5A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of one numeric column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Histogram · KDE · Boxplot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histplot · kdeplot · boxplot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 groups (categorical)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 chart · Grouped bar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barplot · countplot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Numeric vs numeric relationship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Scatter · Regression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scatterplot · regplot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Trend over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 chart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lineplot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Part-of-whole proportions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 · Stacked bar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matplotlib.pie · bar(stacked)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Correlation matrix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Heatmap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heatmap(corr)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All-pair relationships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Pairplot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pairplot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Distribution across categories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Violin · Swarm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violinplot · swarmplot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1F7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492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9FA8D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Geographic distribution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00E5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Choropleth / Bubble map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FF6D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plotly.express · geopandas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2E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87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-731520"/>
            <a:ext cx="4114800" cy="4114800"/>
          </a:xfrm>
          <a:prstGeom prst="ellipse">
            <a:avLst/>
          </a:prstGeom>
          <a:solidFill>
            <a:srgbClr val="3D5AFE">
              <a:alpha val="15000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0" y="4114800"/>
            <a:ext cx="4572000" cy="457200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5C6BC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0" dirty="0"/>
          </a:p>
        </p:txBody>
      </p:sp>
      <p:sp>
        <p:nvSpPr>
          <p:cNvPr id="6" name="Shape 4"/>
          <p:cNvSpPr/>
          <p:nvPr/>
        </p:nvSpPr>
        <p:spPr>
          <a:xfrm>
            <a:off x="2926080" y="1828800"/>
            <a:ext cx="54864" cy="2743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182880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0" y="3246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· Spearman · Heatmaps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 Data Science &amp; ML Community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sales features are linearly related?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1338560" cy="27432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gdg_imgs/corre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61872"/>
            <a:ext cx="6217920" cy="4206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58000" y="1261872"/>
            <a:ext cx="4937760" cy="4206240"/>
          </a:xfrm>
          <a:prstGeom prst="roundRect">
            <a:avLst>
              <a:gd name="adj" fmla="val 1957"/>
            </a:avLst>
          </a:prstGeom>
          <a:solidFill>
            <a:srgbClr val="05082E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967728" y="1353312"/>
            <a:ext cx="137160" cy="137160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7150608" y="1353312"/>
            <a:ext cx="137160" cy="13716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7333488" y="1353312"/>
            <a:ext cx="137160" cy="13716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967728" y="1581912"/>
            <a:ext cx="4736592" cy="3822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num_cols = ['UnitPrice','Quantity',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'Discount','ShippingCost',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'Revenue','Profit',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'CustomerAge','Rating']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Pearson (linear)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 = df[num_cols].corr()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Spearman (monotonic/non-linear)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corr_sp = df[num_cols].corr(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method='spearman')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Masked heatmap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mask = np.triu(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np.ones_like(corr, dtype=bool))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sns.heatmap(corr,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annot=True, fmt='.2f',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cmap='coolwarm', center=0,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mask=mask, linewidths=0.5)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11480" y="5669280"/>
            <a:ext cx="11338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&gt; 0.7 </a:t>
            </a:r>
            <a:r>
              <a:rPr lang="en-US" sz="13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positive   |   </a:t>
            </a:r>
            <a:r>
              <a:rPr lang="en-US" sz="13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&lt; −0.7 </a:t>
            </a:r>
            <a:r>
              <a:rPr lang="en-US" sz="13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negative   |   </a:t>
            </a:r>
            <a:r>
              <a:rPr lang="en-US" sz="1300" b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|r| &lt; 0.3 </a:t>
            </a:r>
            <a:r>
              <a:rPr lang="en-US" sz="13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/ negligible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-731520"/>
            <a:ext cx="4114800" cy="4114800"/>
          </a:xfrm>
          <a:prstGeom prst="ellipse">
            <a:avLst/>
          </a:prstGeom>
          <a:solidFill>
            <a:srgbClr val="3D5AFE">
              <a:alpha val="15000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0" y="4114800"/>
            <a:ext cx="4572000" cy="457200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5C6BC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0" dirty="0"/>
          </a:p>
        </p:txBody>
      </p:sp>
      <p:sp>
        <p:nvSpPr>
          <p:cNvPr id="6" name="Shape 4"/>
          <p:cNvSpPr/>
          <p:nvPr/>
        </p:nvSpPr>
        <p:spPr>
          <a:xfrm>
            <a:off x="2926080" y="1828800"/>
            <a:ext cx="54864" cy="2743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182880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Extracting Business Insights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0" y="3246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data patterns to decisions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 Data Science &amp; ML Community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from the Sales Data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reveals actionable patterns for the business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1338560" cy="27432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" name="Image 0" descr="/home/claude/gdg_imgs/monthly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261872"/>
            <a:ext cx="6035040" cy="2743200"/>
          </a:xfrm>
          <a:prstGeom prst="rect">
            <a:avLst/>
          </a:prstGeom>
        </p:spPr>
      </p:pic>
      <p:pic>
        <p:nvPicPr>
          <p:cNvPr id="8" name="Image 1" descr="/home/claude/gdg_imgs/region_reven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4160520"/>
            <a:ext cx="6035040" cy="251460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6720840" y="1298448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131F7A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6858000" y="135331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Revenue peaks in Q3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6858000" y="1773936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August–October show 28% higher avg revenue — seasonal or promotional driver.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720840" y="2359152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131F7A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6858000" y="241401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North region leads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858000" y="2834640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drives ~27% of total revenue despite similar order count to other regions.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720840" y="3419856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131F7A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/>
          <p:nvPr/>
        </p:nvSpPr>
        <p:spPr>
          <a:xfrm>
            <a:off x="6858000" y="347472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Electronics highest margin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858000" y="3895344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 has the highest median revenue per order across all 3 channels.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6720840" y="4480560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131F7A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858000" y="4535424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 Online channel growing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858000" y="4956048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Online orders are 45% of volume but drive 52% of premium-tier (Q4) revenue.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720840" y="5541264"/>
            <a:ext cx="5120640" cy="960120"/>
          </a:xfrm>
          <a:prstGeom prst="roundRect">
            <a:avLst>
              <a:gd name="adj" fmla="val 7619"/>
            </a:avLst>
          </a:prstGeom>
          <a:solidFill>
            <a:srgbClr val="131F7A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8"/>
          <p:cNvSpPr/>
          <p:nvPr/>
        </p:nvSpPr>
        <p:spPr>
          <a:xfrm>
            <a:off x="6858000" y="55961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 High rating → low return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858000" y="6016752"/>
            <a:ext cx="4754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 with Rating ≥ 4 return at 7% vs 22% for Rating ≤ 2.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731520" y="-731520"/>
            <a:ext cx="4114800" cy="4114800"/>
          </a:xfrm>
          <a:prstGeom prst="ellipse">
            <a:avLst/>
          </a:prstGeom>
          <a:solidFill>
            <a:srgbClr val="3D5AFE">
              <a:alpha val="15000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961120" y="4114800"/>
            <a:ext cx="4572000" cy="457200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5C6BC0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914400"/>
            <a:ext cx="2011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3D5A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0" dirty="0"/>
          </a:p>
        </p:txBody>
      </p:sp>
      <p:sp>
        <p:nvSpPr>
          <p:cNvPr id="6" name="Shape 4"/>
          <p:cNvSpPr/>
          <p:nvPr/>
        </p:nvSpPr>
        <p:spPr>
          <a:xfrm>
            <a:off x="2926080" y="1828800"/>
            <a:ext cx="54864" cy="2743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0" y="1828800"/>
            <a:ext cx="8412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Preparing for Machine Learning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3200400" y="324612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· Scale · Feature Engineer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6446520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C6B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GDG Data Science &amp; ML Community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ML-Ready Dataset Checklist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transformations before model training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1338560" cy="27432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5669280" cy="2578608"/>
          </a:xfrm>
          <a:prstGeom prst="roundRect">
            <a:avLst>
              <a:gd name="adj" fmla="val 3546"/>
            </a:avLst>
          </a:prstGeom>
          <a:solidFill>
            <a:srgbClr val="131F7A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1408176"/>
            <a:ext cx="457200" cy="457200"/>
          </a:xfrm>
          <a:prstGeom prst="ellipse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1408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24712" y="14081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Impute Remaining NaNs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1938528"/>
            <a:ext cx="5394960" cy="1664208"/>
          </a:xfrm>
          <a:prstGeom prst="roundRect">
            <a:avLst>
              <a:gd name="adj" fmla="val 4945"/>
            </a:avLst>
          </a:prstGeom>
          <a:solidFill>
            <a:srgbClr val="05082E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58368" y="2029968"/>
            <a:ext cx="137160" cy="137160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41248" y="2029968"/>
            <a:ext cx="137160" cy="13716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1024128" y="2029968"/>
            <a:ext cx="137160" cy="13716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58368" y="2258568"/>
            <a:ext cx="5193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sklearn.impute import SimpleImputer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 = SimpleImputer(strategy='median')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X_train[num_cols] = imp.fit_transform(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X_train[num_cols])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X_test[num_cols] = imp.transform(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X_test[num_cols])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3995928"/>
            <a:ext cx="5669280" cy="2578608"/>
          </a:xfrm>
          <a:prstGeom prst="roundRect">
            <a:avLst>
              <a:gd name="adj" fmla="val 3546"/>
            </a:avLst>
          </a:prstGeom>
          <a:solidFill>
            <a:srgbClr val="131F7A"/>
          </a:solidFill>
          <a:ln w="12700">
            <a:solidFill>
              <a:srgbClr val="E040FB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48640" y="4123944"/>
            <a:ext cx="457200" cy="457200"/>
          </a:xfrm>
          <a:prstGeom prst="ellipse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4864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24712" y="412394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 Categoricals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654296"/>
            <a:ext cx="5394960" cy="1664208"/>
          </a:xfrm>
          <a:prstGeom prst="roundRect">
            <a:avLst>
              <a:gd name="adj" fmla="val 4945"/>
            </a:avLst>
          </a:prstGeom>
          <a:solidFill>
            <a:srgbClr val="05082E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58368" y="4745736"/>
            <a:ext cx="137160" cy="137160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41248" y="4745736"/>
            <a:ext cx="137160" cy="13716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1024128" y="4745736"/>
            <a:ext cx="137160" cy="13716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8368" y="4974336"/>
            <a:ext cx="5193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Label encode binary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df['Gender_enc'] = LabelEncoder()    .fit_transform(df['CustomerGender'])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One-hot encode multi-class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 = pd.get_dummies(df,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columns=['Category','Channel'],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drop_first=True)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355080" y="1280160"/>
            <a:ext cx="5669280" cy="2578608"/>
          </a:xfrm>
          <a:prstGeom prst="roundRect">
            <a:avLst>
              <a:gd name="adj" fmla="val 3546"/>
            </a:avLst>
          </a:prstGeom>
          <a:solidFill>
            <a:srgbClr val="131F7A"/>
          </a:solidFill>
          <a:ln w="12700">
            <a:solidFill>
              <a:srgbClr val="FF6D0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6492240" y="1408176"/>
            <a:ext cx="457200" cy="45720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6492240" y="1408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068312" y="1408176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6492240" y="1938528"/>
            <a:ext cx="5394960" cy="1664208"/>
          </a:xfrm>
          <a:prstGeom prst="roundRect">
            <a:avLst>
              <a:gd name="adj" fmla="val 4945"/>
            </a:avLst>
          </a:prstGeom>
          <a:solidFill>
            <a:srgbClr val="05082E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6601968" y="2029968"/>
            <a:ext cx="137160" cy="137160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6784848" y="2029968"/>
            <a:ext cx="137160" cy="13716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967728" y="2029968"/>
            <a:ext cx="137160" cy="13716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601968" y="2258568"/>
            <a:ext cx="5193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df['Month'] = df['OrderDate'].dt.month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df['DayOfWeek'] = df['OrderDate']    .dt.dayofweek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df['RevenuePerUnit'] =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df['Revenue'] / df['Quantity'])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df['IsWeekend'] = (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df['DayOfWeek'] &gt;= 5).astype(int)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355080" y="3995928"/>
            <a:ext cx="5669280" cy="2578608"/>
          </a:xfrm>
          <a:prstGeom prst="roundRect">
            <a:avLst>
              <a:gd name="adj" fmla="val 3546"/>
            </a:avLst>
          </a:prstGeom>
          <a:solidFill>
            <a:srgbClr val="131F7A"/>
          </a:solidFill>
          <a:ln w="12700">
            <a:solidFill>
              <a:srgbClr val="00E5FF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492240" y="4123944"/>
            <a:ext cx="457200" cy="45720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492240" y="41239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7068312" y="4123944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Split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6492240" y="4654296"/>
            <a:ext cx="5394960" cy="1664208"/>
          </a:xfrm>
          <a:prstGeom prst="roundRect">
            <a:avLst>
              <a:gd name="adj" fmla="val 4945"/>
            </a:avLst>
          </a:prstGeom>
          <a:solidFill>
            <a:srgbClr val="05082E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6601968" y="4745736"/>
            <a:ext cx="137160" cy="137160"/>
          </a:xfrm>
          <a:prstGeom prst="ellipse">
            <a:avLst/>
          </a:prstGeom>
          <a:solidFill>
            <a:srgbClr val="FF1744"/>
          </a:solidFill>
          <a:ln w="12700">
            <a:solidFill>
              <a:srgbClr val="FF17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6784848" y="4745736"/>
            <a:ext cx="137160" cy="137160"/>
          </a:xfrm>
          <a:prstGeom prst="ellipse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967728" y="4745736"/>
            <a:ext cx="137160" cy="137160"/>
          </a:xfrm>
          <a:prstGeom prst="ellipse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601968" y="4974336"/>
            <a:ext cx="519379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sklearn.preprocessing import     StandardScaler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sklearn.model_selection import     train_test_split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X_train, X_test, y_train, y_test =     train_test_split(X, y,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test_size=0.2, random_state=42)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scaler = StandardScaler()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X_train = scaler.fit_transform(X_train)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B3C8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X_test  = scaler.transform(X_test)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109728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11480" y="201168"/>
            <a:ext cx="11338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Complete Pipeline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11480" y="786384"/>
            <a:ext cx="11338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data → Insights → ML-Ready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11338560" cy="27432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417320"/>
            <a:ext cx="1828800" cy="4343400"/>
          </a:xfrm>
          <a:prstGeom prst="roundRect">
            <a:avLst>
              <a:gd name="adj" fmla="val 6000"/>
            </a:avLst>
          </a:prstGeom>
          <a:solidFill>
            <a:srgbClr val="131F7A"/>
          </a:solidFill>
          <a:ln w="12700">
            <a:solidFill>
              <a:srgbClr val="3D5AFE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84048" y="141732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84048" y="1920240"/>
            <a:ext cx="1828800" cy="411480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84048" y="144475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📥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38912" y="2395728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5488" y="3218688"/>
            <a:ext cx="1645920" cy="27432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3291840"/>
            <a:ext cx="16824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read_csv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info()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describe()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231136" y="3246120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5AFE"/>
                </a:solidFill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2322576" y="1417320"/>
            <a:ext cx="1828800" cy="4343400"/>
          </a:xfrm>
          <a:prstGeom prst="roundRect">
            <a:avLst>
              <a:gd name="adj" fmla="val 6000"/>
            </a:avLst>
          </a:prstGeom>
          <a:solidFill>
            <a:srgbClr val="131F7A"/>
          </a:solidFill>
          <a:ln w="12700">
            <a:solidFill>
              <a:srgbClr val="5C6BC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322576" y="141732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322576" y="1920240"/>
            <a:ext cx="1828800" cy="41148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322576" y="144475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🔎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2377440" y="2395728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2414016" y="3218688"/>
            <a:ext cx="1645920" cy="27432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395728" y="3291840"/>
            <a:ext cx="16824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msno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fillna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SimpleImputer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69664" y="3246120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5AFE"/>
                </a:solidFill>
              </a:rPr>
              <a:t>→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261104" y="1417320"/>
            <a:ext cx="1828800" cy="4343400"/>
          </a:xfrm>
          <a:prstGeom prst="roundRect">
            <a:avLst>
              <a:gd name="adj" fmla="val 6000"/>
            </a:avLst>
          </a:prstGeom>
          <a:solidFill>
            <a:srgbClr val="131F7A"/>
          </a:solidFill>
          <a:ln w="12700">
            <a:solidFill>
              <a:srgbClr val="E040FB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261104" y="141732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261104" y="1920240"/>
            <a:ext cx="1828800" cy="411480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261104" y="144475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🧹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4315968" y="2395728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Types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352544" y="3218688"/>
            <a:ext cx="1645920" cy="27432"/>
          </a:xfrm>
          <a:prstGeom prst="rect">
            <a:avLst/>
          </a:prstGeom>
          <a:solidFill>
            <a:srgbClr val="E040FB"/>
          </a:solidFill>
          <a:ln w="12700">
            <a:solidFill>
              <a:srgbClr val="E040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334256" y="3291840"/>
            <a:ext cx="16824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drop_dups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astype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strip/title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08192" y="3246120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5AFE"/>
                </a:solidFill>
              </a:rPr>
              <a:t>→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199632" y="1417320"/>
            <a:ext cx="1828800" cy="4343400"/>
          </a:xfrm>
          <a:prstGeom prst="roundRect">
            <a:avLst>
              <a:gd name="adj" fmla="val 6000"/>
            </a:avLst>
          </a:prstGeom>
          <a:solidFill>
            <a:srgbClr val="131F7A"/>
          </a:solidFill>
          <a:ln w="12700">
            <a:solidFill>
              <a:srgbClr val="8B000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99632" y="141732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199632" y="1920240"/>
            <a:ext cx="1828800" cy="411480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199632" y="144475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6254496" y="2395728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291072" y="3218688"/>
            <a:ext cx="1645920" cy="27432"/>
          </a:xfrm>
          <a:prstGeom prst="rect">
            <a:avLst/>
          </a:prstGeom>
          <a:solidFill>
            <a:srgbClr val="8B0000"/>
          </a:solidFill>
          <a:ln w="12700">
            <a:solidFill>
              <a:srgbClr val="8B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6272784" y="3291840"/>
            <a:ext cx="16824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IsoForest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clip/cut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046720" y="3246120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5AFE"/>
                </a:solidFill>
              </a:rPr>
              <a:t>→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8138160" y="1417320"/>
            <a:ext cx="1828800" cy="4343400"/>
          </a:xfrm>
          <a:prstGeom prst="roundRect">
            <a:avLst>
              <a:gd name="adj" fmla="val 6000"/>
            </a:avLst>
          </a:prstGeom>
          <a:solidFill>
            <a:srgbClr val="131F7A"/>
          </a:solidFill>
          <a:ln w="12700">
            <a:solidFill>
              <a:srgbClr val="FF6D00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8138160" y="141732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8138160" y="1920240"/>
            <a:ext cx="1828800" cy="411480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138160" y="144475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43" name="Text 41"/>
          <p:cNvSpPr/>
          <p:nvPr/>
        </p:nvSpPr>
        <p:spPr>
          <a:xfrm>
            <a:off x="8193024" y="2395728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&amp;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8229600" y="3218688"/>
            <a:ext cx="1645920" cy="27432"/>
          </a:xfrm>
          <a:prstGeom prst="rect">
            <a:avLst/>
          </a:prstGeom>
          <a:solidFill>
            <a:srgbClr val="FF6D00"/>
          </a:solidFill>
          <a:ln w="12700">
            <a:solidFill>
              <a:srgbClr val="FF6D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211312" y="3291840"/>
            <a:ext cx="16824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pairplot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heatmap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groupby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9985248" y="3246120"/>
            <a:ext cx="1645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D5AFE"/>
                </a:solidFill>
              </a:rPr>
              <a:t>→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10076688" y="1417320"/>
            <a:ext cx="1828800" cy="4343400"/>
          </a:xfrm>
          <a:prstGeom prst="roundRect">
            <a:avLst>
              <a:gd name="adj" fmla="val 6000"/>
            </a:avLst>
          </a:prstGeom>
          <a:solidFill>
            <a:srgbClr val="131F7A"/>
          </a:solidFill>
          <a:ln w="12700">
            <a:solidFill>
              <a:srgbClr val="76FF03"/>
            </a:solidFill>
            <a:prstDash val="solid"/>
          </a:ln>
          <a:effectLst>
            <a:outerShdw blurRad="152400" dist="50800" dir="27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10076688" y="1417320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10076688" y="1920240"/>
            <a:ext cx="1828800" cy="411480"/>
          </a:xfrm>
          <a:prstGeom prst="rect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10076688" y="1444752"/>
            <a:ext cx="1828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⚙️</a:t>
            </a:r>
            <a:endParaRPr lang="en-US" sz="2600" dirty="0"/>
          </a:p>
        </p:txBody>
      </p:sp>
      <p:sp>
        <p:nvSpPr>
          <p:cNvPr id="51" name="Text 49"/>
          <p:cNvSpPr/>
          <p:nvPr/>
        </p:nvSpPr>
        <p:spPr>
          <a:xfrm>
            <a:off x="10131552" y="2395728"/>
            <a:ext cx="17190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Eng.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10168128" y="3218688"/>
            <a:ext cx="1645920" cy="27432"/>
          </a:xfrm>
          <a:prstGeom prst="rect">
            <a:avLst/>
          </a:prstGeom>
          <a:solidFill>
            <a:srgbClr val="76FF03"/>
          </a:solidFill>
          <a:ln w="12700">
            <a:solidFill>
              <a:srgbClr val="76FF0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/>
          <p:nvPr/>
        </p:nvSpPr>
        <p:spPr>
          <a:xfrm>
            <a:off x="10149840" y="3291840"/>
            <a:ext cx="168249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encode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9FA8D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cols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411480" y="5961888"/>
            <a:ext cx="11338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76FF0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Wrap each step in a function · Version your cleaned dataset · Document every assumption made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D1B6E"/>
          </a:solidFill>
          <a:ln w="12700">
            <a:solidFill>
              <a:srgbClr val="0D1B6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3D5AFE">
              <a:alpha val="15000"/>
            </a:srgbClr>
          </a:solidFill>
          <a:ln w="12700">
            <a:solidFill>
              <a:srgbClr val="3D5AFE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8229600" y="3657600"/>
            <a:ext cx="5486400" cy="5486400"/>
          </a:xfrm>
          <a:prstGeom prst="ellipse">
            <a:avLst/>
          </a:prstGeom>
          <a:solidFill>
            <a:srgbClr val="5C6BC0">
              <a:alpha val="12000"/>
            </a:srgbClr>
          </a:solidFill>
          <a:ln w="12700">
            <a:solidFill>
              <a:srgbClr val="5C6BC0">
                <a:alpha val="3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Recap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1371600"/>
            <a:ext cx="1078992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Detected &amp; imputed missing values using missingno + median/mode/mean strategies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Removed 18 duplicate rows and standardised inconsistent string categories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Applied IQR fences, Isolation Forest, and quantile binning for outlier handling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Performed Univariate → Bivariate → Multivariate EDA on the sales dataset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Selected the right chart type for each analytical question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Built correlation heatmaps and identified Revenue–Profit as the strongest relationship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9FA8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Extracted business insights: North region leads, Online channel growing, Q3 peaks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Engineered features and built a reproducible ML-ready pipeline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0" y="5760720"/>
            <a:ext cx="12161520" cy="1097280"/>
          </a:xfrm>
          <a:prstGeom prst="rect">
            <a:avLst/>
          </a:prstGeom>
          <a:solidFill>
            <a:srgbClr val="3D5AFE"/>
          </a:solidFill>
          <a:ln w="12700">
            <a:solidFill>
              <a:srgbClr val="3D5AF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5897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⬡  Google Developer Groups — Data Science &amp; ML Community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0" y="58978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B3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zindi.africa  ·  kaggle.com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2577</Words>
  <Application>Microsoft Office PowerPoint</Application>
  <PresentationFormat>Widescreen</PresentationFormat>
  <Paragraphs>486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Dive into Data Cleaning &amp; EDA</dc:title>
  <dc:subject>PptxGenJS Presentation</dc:subject>
  <dc:creator>PptxGenJS</dc:creator>
  <cp:lastModifiedBy>Oluwafemi Abiona</cp:lastModifiedBy>
  <cp:revision>3</cp:revision>
  <dcterms:created xsi:type="dcterms:W3CDTF">2026-06-12T09:33:59Z</dcterms:created>
  <dcterms:modified xsi:type="dcterms:W3CDTF">2026-06-13T23:28:36Z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8104b14-b53d-46de-9ae8-975cc0e84815_Enabled">
    <vt:lpwstr>true</vt:lpwstr>
  </property>
  <property fmtid="{D5CDD505-2E9C-101B-9397-08002B2CF9AE}" pid="3" name="MSIP_Label_68104b14-b53d-46de-9ae8-975cc0e84815_SetDate">
    <vt:lpwstr>2026-06-13T23:27:27Z</vt:lpwstr>
  </property>
  <property fmtid="{D5CDD505-2E9C-101B-9397-08002B2CF9AE}" pid="4" name="MSIP_Label_68104b14-b53d-46de-9ae8-975cc0e84815_Method">
    <vt:lpwstr>Standard</vt:lpwstr>
  </property>
  <property fmtid="{D5CDD505-2E9C-101B-9397-08002B2CF9AE}" pid="5" name="MSIP_Label_68104b14-b53d-46de-9ae8-975cc0e84815_Name">
    <vt:lpwstr>ABI_MIP_InternalUseOnly</vt:lpwstr>
  </property>
  <property fmtid="{D5CDD505-2E9C-101B-9397-08002B2CF9AE}" pid="6" name="MSIP_Label_68104b14-b53d-46de-9ae8-975cc0e84815_SiteId">
    <vt:lpwstr>cef04b19-7776-4a94-b89b-375c77a8f936</vt:lpwstr>
  </property>
  <property fmtid="{D5CDD505-2E9C-101B-9397-08002B2CF9AE}" pid="7" name="MSIP_Label_68104b14-b53d-46de-9ae8-975cc0e84815_ActionId">
    <vt:lpwstr>ebc5a75a-bef2-4819-b3ff-373953d2ea33</vt:lpwstr>
  </property>
  <property fmtid="{D5CDD505-2E9C-101B-9397-08002B2CF9AE}" pid="8" name="MSIP_Label_68104b14-b53d-46de-9ae8-975cc0e84815_ContentBits">
    <vt:lpwstr>0</vt:lpwstr>
  </property>
  <property fmtid="{D5CDD505-2E9C-101B-9397-08002B2CF9AE}" pid="9" name="MSIP_Label_68104b14-b53d-46de-9ae8-975cc0e84815_Tag">
    <vt:lpwstr>10, 3, 0, 1</vt:lpwstr>
  </property>
</Properties>
</file>